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8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201168" cy="4924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356616"/>
            <a:ext cx="1463040" cy="1463040"/>
          </a:xfrm>
          <a:prstGeom prst="ellipse">
            <a:avLst/>
          </a:prstGeom>
          <a:solidFill>
            <a:srgbClr val="028090">
              <a:alpha val="45000"/>
            </a:srgbClr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🛒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6000" y="457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ShopCart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286000" y="1234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A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UX Design Project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4124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ECEF"/>
                </a:solidFill>
              </a:rPr>
              <a:t>COMP3511 – Human Computer Interaction  |  The University of New South Wales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57D"/>
                </a:solidFill>
              </a:rPr>
              <a:t> Personas · Scenarios · Requirements · Prototype · Usability Testing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4A833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200400"/>
            <a:ext cx="155448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531620" y="331012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5316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904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Kapil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224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Z5646894</a:t>
            </a:r>
          </a:p>
        </p:txBody>
      </p:sp>
      <p:sp>
        <p:nvSpPr>
          <p:cNvPr id="18" name="Shape 16"/>
          <p:cNvSpPr/>
          <p:nvPr/>
        </p:nvSpPr>
        <p:spPr>
          <a:xfrm>
            <a:off x="2834640" y="3200400"/>
            <a:ext cx="155448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360420" y="331012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3604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J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3904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Jonas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4224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z</a:t>
            </a:r>
            <a:r>
              <a:rPr lang="en-US" altLang="zh-CN" sz="900" dirty="0">
                <a:solidFill>
                  <a:schemeClr val="bg1">
                    <a:lumMod val="65000"/>
                  </a:schemeClr>
                </a:solidFill>
              </a:rPr>
              <a:t>5664497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155448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189220" y="3310128"/>
            <a:ext cx="502920" cy="502920"/>
          </a:xfrm>
          <a:prstGeom prst="ellipse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1892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3904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4224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z5560086</a:t>
            </a:r>
          </a:p>
        </p:txBody>
      </p:sp>
      <p:sp>
        <p:nvSpPr>
          <p:cNvPr id="28" name="Shape 26"/>
          <p:cNvSpPr/>
          <p:nvPr/>
        </p:nvSpPr>
        <p:spPr>
          <a:xfrm>
            <a:off x="6492240" y="3200400"/>
            <a:ext cx="155448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Shape 27"/>
          <p:cNvSpPr/>
          <p:nvPr/>
        </p:nvSpPr>
        <p:spPr>
          <a:xfrm>
            <a:off x="7018020" y="3310128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01802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39044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Chuang</a:t>
            </a:r>
          </a:p>
        </p:txBody>
      </p:sp>
      <p:sp>
        <p:nvSpPr>
          <p:cNvPr id="32" name="Text 30"/>
          <p:cNvSpPr/>
          <p:nvPr/>
        </p:nvSpPr>
        <p:spPr>
          <a:xfrm>
            <a:off x="6492240" y="4224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z5622266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ED51F884-BCC0-28AC-3460-D3CB0C42D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063" y="235458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Problem Statement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Why ShopCart was designed and what problems it solves for online shoppers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User Personas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40680" y="117043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4 personas including Emily, Daniel, Sarah &amp; Margaret based on user research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1847088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74320" y="1847088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1911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Context Scenarios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2194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Real-world usage scenarios mapped to each persona's needs and goals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1847088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1847088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1911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System Requirements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40680" y="2194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Functional and non-functional requirements derived from research findings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74320" y="2871216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74320" y="2871216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935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Prototype Walkthrough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32186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Key screens: Homepage, Product Page, Cart, Return, Report Issue, Assistive Tools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7121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2871216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2871216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40680" y="2935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Usability Testing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40680" y="32186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Test plan, 5 task scenarios, participant findings, and post-test ratings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89534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74320" y="3895344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74320" y="3895344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0120" y="39593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Prototype Improvements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60120" y="424281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3 major improvements made based on usability test feedback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9534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4754880" y="3895344"/>
            <a:ext cx="59436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754880" y="3895344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833"/>
                </a:solidFill>
              </a:rPr>
              <a:t>08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40680" y="39593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Summary &amp; Conclusion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40680" y="424281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Key takeaways and what ShopCart achieves for consumer rights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Problems Found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26464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3898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Refund policies unclear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Users struggle to find return/refund info before and after purchase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048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201168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Complaint process complex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22494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Multi-step, confusing flows frustrate users trying to report issues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26334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Poor consumer transparency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28712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Platforms fail to explain rights in plain, accessible language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" y="325526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Accessibility gaps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3493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Small text, poor contrast &amp; cluttered pages exclude older users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" y="387705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Support hard to find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4114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Users can't easily locate help channels when problems arise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709160" y="822960"/>
            <a:ext cx="41148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709160" y="8229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ShopCart Solution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1371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</a:rPr>
              <a:t>ShopCart is a modern e-commerce web app that combines online shopping with built-in consumer rights support — designed to be transparent, accessible, and empowering for all users.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2414016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846320" y="2414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2377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Clear return &amp; refund info on every product page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846320" y="2834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2798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Step-by-step guided complaint &amp; issue reporting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255264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846320" y="32552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3218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Consumer rights explained in plain language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675888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846320" y="3675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3639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Accessible design for elderly &amp; low-vision users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096512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846320" y="4096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40599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Visible support channels throughout the platform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Goal: A transparent, accessible, and user-empowering e-commerce experience that puts consumer rights first.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User Personas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713232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8992" y="86868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78992" y="8686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</a:rPr>
              <a:t>Frequent Shopper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" y="114300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Emily Chen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39903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University Student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78992" y="165506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</a:rPr>
              <a:t>Needs: Quick product search, clear refund info before buying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9202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</a:rPr>
              <a:t>Pain: Policies buried in pages, slow support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219456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"I want to know my rights before I buy, not after a problem."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36592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736592" y="804672"/>
            <a:ext cx="713232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736592" y="128016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36592" y="164592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31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41264" y="86868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1A2E4A">
              <a:alpha val="2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541264" y="8686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4A"/>
                </a:solidFill>
              </a:rPr>
              <a:t>Value Seeker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41264" y="114300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Daniel Wu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41264" y="139903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Office Worker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41264" y="165506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</a:rPr>
              <a:t>Needs: Trustworthy reviews, clear complaint escalation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41264" y="19202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</a:rPr>
              <a:t>Pain: Incomplete product info, unclear channels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41264" y="219456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"If the process is fair and clear, I'm more likely to trust the platform."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713232" cy="1965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74320" y="340156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74320" y="376732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27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78992" y="299008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78992" y="29900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</a:rPr>
              <a:t>Refund Experience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" y="326440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Sarah Nguyen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78992" y="35204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Retail Assistant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78992" y="377647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</a:rPr>
              <a:t>Needs: Simple Report Issue button, status tracking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" y="404164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</a:rPr>
              <a:t>Pain: No clear complaint instructions, too many steps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" y="43159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"I don't mind reporting a problem, but I need it to be simple."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736592" y="2926080"/>
            <a:ext cx="713232" cy="1965960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736592" y="340156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736592" y="376732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62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41264" y="299008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F4A833">
              <a:alpha val="20000"/>
            </a:srgbClr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541264" y="29900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833"/>
                </a:solidFill>
              </a:rPr>
              <a:t>Accessibility Needs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41264" y="326440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Margaret Lee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41264" y="35204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Retired Teacher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41264" y="377647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</a:rPr>
              <a:t>Needs: Large text, high contrast, plain-language policies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41264" y="404164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</a:rPr>
              <a:t>Pain: Small fonts, cluttered layouts, hidden support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41264" y="43159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"I need the website to guide me clearly, not make me work hard."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Context Scenarios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060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8992" y="859536"/>
            <a:ext cx="1325880" cy="219456"/>
          </a:xfrm>
          <a:prstGeom prst="roundRect">
            <a:avLst>
              <a:gd name="adj" fmla="val 20833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78992" y="859536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</a:rPr>
              <a:t>Emily — P1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" y="11064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Checking Refund Rights Before Purchase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3716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Emily wants to buy headphones from ShopCart. Before completing her order, she visits the product page expecting a clear summary of return and refund rights in simple language so she can feel confident buying.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1874520"/>
            <a:ext cx="73152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130552"/>
            <a:ext cx="457200" cy="45720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78992" y="1929384"/>
            <a:ext cx="1325880" cy="219456"/>
          </a:xfrm>
          <a:prstGeom prst="roundRect">
            <a:avLst>
              <a:gd name="adj" fmla="val 20833"/>
            </a:avLst>
          </a:prstGeom>
          <a:solidFill>
            <a:srgbClr val="1A2E4A">
              <a:alpha val="18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78992" y="192938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4A"/>
                </a:solidFill>
              </a:rPr>
              <a:t>Daniel — P2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" y="21762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Handling a Delayed 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24414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Daniel's household item is 3 days late. He logs in to check tracking, understand what actions he can take, and find out if he's entitled to compensation, cancellation, or escalation.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44368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73152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78992" y="2999232"/>
            <a:ext cx="1325880" cy="219456"/>
          </a:xfrm>
          <a:prstGeom prst="roundRect">
            <a:avLst>
              <a:gd name="adj" fmla="val 20833"/>
            </a:avLst>
          </a:prstGeom>
          <a:solidFill>
            <a:srgbClr val="E63946">
              <a:alpha val="18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78992" y="2999232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</a:rPr>
              <a:t>Sarah — P3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" y="32461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Reporting a Faulty Product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35112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Sarah receives a damaged item and needs to report it immediately. She expects a clear 'Report Issue' option, guided steps, evidence upload support, and clear outcomes like replacement or refund.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014216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20040" y="4014216"/>
            <a:ext cx="73152" cy="960120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02920" y="4270248"/>
            <a:ext cx="457200" cy="457200"/>
          </a:xfrm>
          <a:prstGeom prst="ellipse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0292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78992" y="4069080"/>
            <a:ext cx="1325880" cy="219456"/>
          </a:xfrm>
          <a:prstGeom prst="roundRect">
            <a:avLst>
              <a:gd name="adj" fmla="val 20833"/>
            </a:avLst>
          </a:prstGeom>
          <a:solidFill>
            <a:srgbClr val="F4A833">
              <a:alpha val="18000"/>
            </a:srgbClr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78992" y="4069080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833"/>
                </a:solidFill>
              </a:rPr>
              <a:t>Margaret — P4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8992" y="431596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Older User Seeking Readable Rights Info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78992" y="45811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Margaret wants to buy a kitchen appliance but worries about returns. She needs a simple interface with large text, strong contrast, plain-language policy info, and easy-to-find support options.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System 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Functional Requirements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3232" y="13533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Clear return &amp; refund info on product pages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13232" y="16916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Dedicated complaint / issue reporting feature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09397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0939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13232" y="20299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Step-by-step guidance for returns &amp; complaints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4323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3232" y="23682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Order tracking &amp; complaint status visibility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7063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7706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13232" y="27066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Visible support channels (chat, contact, help)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3232" y="30449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Full product details incl. seller &amp; delivery info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4728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4472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3232" y="33832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Search &amp; navigation for quick info access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78561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7856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3232" y="37216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Consumer rights explained in plain language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12394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1239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13232" y="40599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Available actions shown for common problems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46227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57200" y="446227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13232" y="43982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Past issue reports saved in user dashboard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804672"/>
            <a:ext cx="4160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663440" y="804672"/>
            <a:ext cx="416052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663440" y="80467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Non-Functional Requirements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73168" y="1353312"/>
            <a:ext cx="146304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983480" y="1353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Usability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1627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Consistent, clear and predictable layout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83480" y="1892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Minimal steps for all key tasks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83480" y="21579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Intuitive navigation structure throughout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73168" y="2496312"/>
            <a:ext cx="146304" cy="219456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983480" y="2496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833"/>
                </a:solidFill>
              </a:rPr>
              <a:t>Accessibility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83480" y="2770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Large text options &amp; screen zoom support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83480" y="3035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High contrast colours for readability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83480" y="33009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Clear button labels &amp; icons with text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73168" y="3639312"/>
            <a:ext cx="146304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4983480" y="3639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83480" y="3913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Fast page loads on all connections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83480" y="4178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Smooth carousels and transitions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73168" y="4517136"/>
            <a:ext cx="146304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983480" y="45171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Security &amp; Trust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983480" y="47914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Secure payment processing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983480" y="5056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  -  Transparent, honest information presented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Prototype – Homepage &amp; Product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Homepage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380744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8368" y="1307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Navigation Bar: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5361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Category, New, Sales, Trending, Fashion, Jewellery, Watch, Gadgets, Home Decor, Foods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8912" y="1837944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8368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Hero Banner: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19933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Bold promotional banner with 'Make every penny count at best price' CTA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" y="2295144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8368" y="2221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Hot Deals Carousel: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4505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Scrollable product cards with original &amp; discounted prices and ratings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" y="2752344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8368" y="2679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Trending Brands: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29077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Large featured brand sections — e.g. Titan Watch Collections (50+ collections)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" y="3209544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Popular Items Grid: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33649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Filterable by All, Cloths, Watch, Bags, Shoes, Decor, Beauty, Skin Care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" y="3666744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8368" y="3593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Crazy Offers Timer: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38221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Deal of the Week countdown with up to 70% discount and Check Out button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8912" y="4123944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050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Footer Links: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" y="42793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Easy Returns, Report an Issue, Assistive Tools — accessible from every page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804672"/>
            <a:ext cx="4160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804672"/>
            <a:ext cx="416052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8046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Page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82312" y="1380744"/>
            <a:ext cx="16459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01768" y="1307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Multi-Image Gallery: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01768" y="15361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3 thumbnail views + 1 large main product image for detailed inspection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82312" y="1837944"/>
            <a:ext cx="16459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001768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Color &amp; Size Selector: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01768" y="19933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4 colour swatches + 4 size options (Sm, L, XL, 2XL) clearly displayed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82312" y="2295144"/>
            <a:ext cx="16459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001768" y="2221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Price &amp; Discount: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01768" y="24505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Sale price $10.99 with 20% discount badge + 6 Pieces Left urgency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82312" y="2752344"/>
            <a:ext cx="16459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001768" y="2679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Add to Cart Button: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01768" y="29077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Prominent gold CTA button + wishlist heart icon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82312" y="3209544"/>
            <a:ext cx="16459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001768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Return Policy Badge: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01768" y="33649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2 weeks return policy shown prominently below the cart button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82312" y="3666744"/>
            <a:ext cx="16459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001768" y="3593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Customer Service: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01768" y="38221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24/7 online customer service link visible on product page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82312" y="4123944"/>
            <a:ext cx="16459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001768" y="4050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Description &amp; Reviews: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01768" y="42793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Full product description, material info, and View Review link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Prototype – Cart, Return &amp; Report Issue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51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5176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Shopping Cart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" y="1380744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8368" y="131673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All Items view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55448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Checklist of items with qty +/- controls and size/colour shown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8912" y="1975104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8368" y="191109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Order Summary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1488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Estimated price panel updates live as items selected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" y="2569464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8368" y="250545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Checkout button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7432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Gold Check Out CTA with VAT note included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" y="3163824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8368" y="309981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Payment options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33375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Card payments + Cash on Delivery (COD) option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" y="3758184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" y="369417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Continue Shopping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39319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Easy link back to browsing without losing cart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" y="4352544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8368" y="428853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Recommended section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452628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Personalised product suggestions below cart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804672"/>
            <a:ext cx="2651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246120" y="804672"/>
            <a:ext cx="265176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246120" y="8046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Easy Return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37560" y="1298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4-Step Wizard: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1600200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337560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66744" y="1764792"/>
            <a:ext cx="292608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959352" y="1600200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959352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88536" y="1764792"/>
            <a:ext cx="292608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581144" y="1600200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581144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10328" y="1764792"/>
            <a:ext cx="292608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202936" y="1600200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202936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73552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Select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95344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Reason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17136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Method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38928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Refund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364992" y="2304288"/>
            <a:ext cx="146304" cy="1463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3566160" y="224028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Item selection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247802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Choose item with reason dropdown (Faulty, Wrong item, etc.)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64992" y="2898648"/>
            <a:ext cx="146304" cy="1463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3566160" y="283464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Progress bar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66160" y="307238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Clear 4-step progress indicator at top of page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364992" y="3493008"/>
            <a:ext cx="146304" cy="1463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3566160" y="342900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Terms sidebar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66674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30-day window, original packaging required, fee note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64992" y="4087368"/>
            <a:ext cx="146304" cy="1463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3566160" y="402336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Help link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566160" y="426110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'Need help? Visit our Return Policy' below Continue btn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72200" y="804672"/>
            <a:ext cx="2651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172200" y="804672"/>
            <a:ext cx="265176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172200" y="8046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Report an Issue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263640" y="1298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4-Step Guided Flow: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63640" y="1600200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263640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592824" y="1764792"/>
            <a:ext cx="292608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199632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Describe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885432" y="1600200"/>
            <a:ext cx="329184" cy="329184"/>
          </a:xfrm>
          <a:prstGeom prst="ellipse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885432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214616" y="1764792"/>
            <a:ext cx="292608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6821424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Photo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7507224" y="1600200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7507224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836408" y="1764792"/>
            <a:ext cx="292608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7443216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Submit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129016" y="1600200"/>
            <a:ext cx="329184" cy="329184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8129016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065008" y="19568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57D"/>
                </a:solidFill>
              </a:rPr>
              <a:t>Track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291072" y="2304288"/>
            <a:ext cx="146304" cy="14630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6492240" y="224028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Issue details form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492240" y="247802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Select item + reason dropdown, phone number add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91072" y="2898648"/>
            <a:ext cx="146304" cy="14630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6492240" y="283464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Photo upload step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492240" y="307238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Evidence photo upload guided step by step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291072" y="3493008"/>
            <a:ext cx="146304" cy="14630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6492240" y="342900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Complaint T&amp;Cs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492240" y="366674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7-day report window, 48-hour response time shown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91072" y="4087368"/>
            <a:ext cx="146304" cy="14630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6492240" y="402336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Submit &amp; Track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492240" y="426110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Submit report and track progress from dashboard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Prototype – Assistive Tools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384048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</a:rPr>
              <a:t>Designed specifically for Persona 4 (Margaret, 62, Retired Teacher) and all users with visual, physical, or cognitive accessibility needs.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2E4A"/>
                </a:solidFill>
              </a:rPr>
              <a:t>"We're committed to making ShopCart easy and comfortable for everyone."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48056" y="1856232"/>
            <a:ext cx="475488" cy="47548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48056" y="1856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3272" y="1847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Text Size &amp; Contrast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" y="2441448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Adjust font size and switch to high-contrast mode for better readability across all pages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1691640"/>
            <a:ext cx="2743200" cy="640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374136" y="1856232"/>
            <a:ext cx="475488" cy="475488"/>
          </a:xfrm>
          <a:prstGeom prst="ellipse">
            <a:avLst/>
          </a:prstGeom>
          <a:solidFill>
            <a:srgbClr val="1A2E4A">
              <a:alpha val="2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374136" y="1856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9352" y="1847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Screen Reader Support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74136" y="2441448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Fully compatible with screen readers for smooth, uninterrupted browsing and navigation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691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00216" y="1856232"/>
            <a:ext cx="475488" cy="475488"/>
          </a:xfrm>
          <a:prstGeom prst="ellipse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00216" y="1856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85432" y="1847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Voice Commands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0216" y="2441448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Use voice search to find products and navigate the site hands-free with simple speech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35584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20040" y="3355848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48056" y="3520440"/>
            <a:ext cx="475488" cy="475488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48056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3272" y="3511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Keyboard Navigation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8056" y="410565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Navigate the entire website easily using only a keyboard — no mouse or touch required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335584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246120" y="3355848"/>
            <a:ext cx="2743200" cy="64008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374136" y="3520440"/>
            <a:ext cx="475488" cy="475488"/>
          </a:xfrm>
          <a:prstGeom prst="ellipse">
            <a:avLst/>
          </a:prstGeom>
          <a:solidFill>
            <a:srgbClr val="F4A833">
              <a:alpha val="20000"/>
            </a:srgbClr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374136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833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59352" y="3511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Color &amp; Theme Options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74136" y="410565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Choose from light, dark, or soft themes to reduce eye strain and improve comfort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335584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172200" y="3355848"/>
            <a:ext cx="274320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300216" y="3520440"/>
            <a:ext cx="475488" cy="475488"/>
          </a:xfrm>
          <a:prstGeom prst="ellipse">
            <a:avLst/>
          </a:prstGeom>
          <a:solidFill>
            <a:srgbClr val="6C757D">
              <a:alpha val="20000"/>
            </a:srgbClr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300216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757D"/>
                </a:solidFill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85432" y="3511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Simplified View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00216" y="410565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Enable a clean, distraction-free layout with only essential features and content shown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8090"/>
                </a:solidFill>
              </a:rPr>
              <a:t>Accessibility is always on at ShopCart  |  These tools help everyone shop with confidence, comfort, and ease.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Usability Test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87782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Purpose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Evaluate whether users can complete core shopping &amp; after-sales tasks efficiently and with minimal confusion or errors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73152" cy="868680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Participants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3-5 users for in-class pilot. At least 1 aged 45+, 1 with visual difficulty. General online shoppers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7315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88950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Method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16382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Moderated task-based sessions. Facilitator reads tasks. Think-aloud protocol. No help unless completely stuck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221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3822192"/>
            <a:ext cx="73152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89534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Environment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Quiet tutorial room. Laptop or desktop. Screen zoom at default. Prototype opened and ready before participant sits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804672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617720" y="804672"/>
            <a:ext cx="4206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617720" y="8046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5 Task Scenarios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3931920" cy="658368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754880" y="1298448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13441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Task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</a:rPr>
              <a:t>Find a casual black T-shirt and open its product details page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048256"/>
            <a:ext cx="3931920" cy="658368"/>
          </a:xfrm>
          <a:prstGeom prst="rect">
            <a:avLst/>
          </a:prstGeom>
          <a:solidFill>
            <a:srgbClr val="F4A833">
              <a:alpha val="10000"/>
            </a:srgbClr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754880" y="2048256"/>
            <a:ext cx="64008" cy="658368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92040" y="20939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833"/>
                </a:solidFill>
              </a:rPr>
              <a:t>Task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322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</a:rPr>
              <a:t>Decide to buy the T-shirt and add it to the shopping cart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798064"/>
            <a:ext cx="3931920" cy="658368"/>
          </a:xfrm>
          <a:prstGeom prst="rect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754880" y="2798064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92040" y="2843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Task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072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</a:rPr>
              <a:t>Review cart items and proceed to the checkout payment page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547872"/>
            <a:ext cx="3931920" cy="658368"/>
          </a:xfrm>
          <a:prstGeom prst="rect">
            <a:avLst/>
          </a:prstGeom>
          <a:solidFill>
            <a:srgbClr val="E63946">
              <a:alpha val="1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754880" y="3547872"/>
            <a:ext cx="64008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892040" y="35935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Task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</a:rPr>
              <a:t>Product arrived differently than expected — initiate a return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4297680"/>
            <a:ext cx="3931920" cy="658368"/>
          </a:xfrm>
          <a:prstGeom prst="rect">
            <a:avLst/>
          </a:prstGeom>
          <a:solidFill>
            <a:srgbClr val="1A2E4A">
              <a:alpha val="1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754880" y="4297680"/>
            <a:ext cx="64008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892040" y="43434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Task 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572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</a:rPr>
              <a:t>Received a damaged item — submit an issue report with evidence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Usability Test – Findings &amp; Questionnaire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Post-Test Ease Ratings  (Scale 1 = Very Difficult → 5 = Very Easy)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Finding Products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170432"/>
            <a:ext cx="5029200" cy="2377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514600" y="1170432"/>
            <a:ext cx="402336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35240" y="11155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4/5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5910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Product Page Clarity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645920"/>
            <a:ext cx="5029200" cy="2377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514600" y="1645920"/>
            <a:ext cx="402336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635240" y="159105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4/5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0665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Cart &amp; Checkout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2121408"/>
            <a:ext cx="5029200" cy="2377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14600" y="2121408"/>
            <a:ext cx="3017520" cy="237744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35240" y="206654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833"/>
                </a:solidFill>
              </a:rPr>
              <a:t>3/5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542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Return Function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2596896"/>
            <a:ext cx="5029200" cy="2377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514600" y="2596896"/>
            <a:ext cx="301752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635240" y="254203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3/5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Issue Reporting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3072384"/>
            <a:ext cx="5029200" cy="2377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514600" y="3072384"/>
            <a:ext cx="301752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635240" y="30175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3/5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58444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20040" y="3584448"/>
            <a:ext cx="4069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20040" y="35844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Pre-Test Background (1 Participant)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867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Often shops online using desktop/laptop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57200" y="4169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Moderate confidence using shopping websites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57200" y="43525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Never returned a product or reported an issue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57200" y="4535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Sometimes has difficulty reading small text on websites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57200" y="47183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Expects: clear search bar + trustworthy reviews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754880" y="358444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754880" y="3584448"/>
            <a:ext cx="406908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754880" y="35844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Post-Test Key Observations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9867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Purchase flow and Buy button were easiest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892040" y="4169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Return policy feature was most confusing area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892040" y="43525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Felt lost when completing return/report tasks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892040" y="4535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Suggested: clearer return terms + review feedback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892040" y="47183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43A40"/>
                </a:solidFill>
              </a:rPr>
              <a:t>- Considered usable for elderly with some improvements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Prototype Improvements –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347472"/>
          </a:xfrm>
          <a:prstGeom prst="rect">
            <a:avLst/>
          </a:prstGeom>
          <a:solidFill>
            <a:srgbClr val="E63946">
              <a:alpha val="12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</a:rPr>
              <a:t>Trigger: Usability test revealed 3/5 tasks were rated Neutral or below — Return and Report Issue flows needed redesign.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261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Easy Return Page Redesign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0934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4206240" cy="237744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6093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Before (Problem)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1865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clear step progress indicator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0116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Return T&amp;Cs hidden or missing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15798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Users couldn't find reason options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3042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visible help or policy link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60934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617720" y="1609344"/>
            <a:ext cx="420624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709160" y="16093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After (Improvement)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865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+ 4-step progress wizard at top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60" y="20116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Return T&amp;Cs sidebar always visible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215798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Item + reason dropdown selection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09160" y="23042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'Need help? Visit Return Policy' link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523744"/>
            <a:ext cx="850392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84048" y="2560320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84048" y="2560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25237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 an Issue Redesign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87121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20040" y="2871216"/>
            <a:ext cx="4206240" cy="237744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11480" y="28712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Before (Problem)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31272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visible 'Report Issue' entry point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32735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step guidance or flow structure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34198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complaint terms shown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35661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photo upload or evidence guidance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287121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617720" y="2871216"/>
            <a:ext cx="4206240" cy="237744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709160" y="28712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After (Improvement)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31272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Clear 4-step guided flow with progress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09160" y="32735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Complaint T&amp;Cs sidebar (7 days, 48hr response)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9160" y="34198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Photo upload dedicated step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35661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Contact Customer Care link throughout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3785616"/>
            <a:ext cx="8503920" cy="320040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384048" y="3822192"/>
            <a:ext cx="256032" cy="2560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384048" y="3822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9808" y="378561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Assistive Tools Page Added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0040" y="4133088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320040" y="4133088"/>
            <a:ext cx="4206240" cy="237744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11480" y="41330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</a:rPr>
              <a:t>Before (Problem)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1480" y="43891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dedicated accessibility support page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11480" y="4535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font size or contrast controls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1480" y="46817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No voice or keyboard nav support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11480" y="48280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- Hard for elderly/low-vision users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17720" y="4133088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617720" y="4133088"/>
            <a:ext cx="4206240" cy="237744"/>
          </a:xfrm>
          <a:prstGeom prst="rect">
            <a:avLst/>
          </a:prstGeom>
          <a:solidFill>
            <a:srgbClr val="F4A833">
              <a:alpha val="15000"/>
            </a:srgbClr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709160" y="41330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833"/>
                </a:solidFill>
              </a:rPr>
              <a:t>After (Improvement)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709160" y="43891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+ 6 accessibility tools on dedicated page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09160" y="4535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Text Size &amp; Contrast, Screen Reader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09160" y="46817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Voice Commands &amp; Keyboard Navigation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09160" y="48280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+ Simplified View + Color/Theme Options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201168" cy="4924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560320" y="932688"/>
            <a:ext cx="4023360" cy="45720"/>
          </a:xfrm>
          <a:prstGeom prst="rect">
            <a:avLst/>
          </a:prstGeom>
          <a:solidFill>
            <a:srgbClr val="F4A833"/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1920240" cy="1828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833"/>
                </a:solidFill>
              </a:rPr>
              <a:t>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Personas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9ECEF"/>
                </a:solidFill>
              </a:rPr>
              <a:t>Student, Worker, Retail &amp; Elderly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078992"/>
            <a:ext cx="1920240" cy="1828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46888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833"/>
                </a:solidFill>
              </a:rPr>
              <a:t>4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46888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9ECEF"/>
                </a:solidFill>
              </a:rPr>
              <a:t>Real journeys &amp; pain points mapped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078992"/>
            <a:ext cx="1920240" cy="1828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7200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833"/>
                </a:solidFill>
              </a:rPr>
              <a:t>5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Usability Tasks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9ECEF"/>
                </a:solidFill>
              </a:rPr>
              <a:t>Tested with real participants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75120" y="1078992"/>
            <a:ext cx="1920240" cy="1828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7512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833"/>
                </a:solidFill>
              </a:rPr>
              <a:t>3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67512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Improvements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9ECEF"/>
                </a:solidFill>
              </a:rPr>
              <a:t>Return, Issue Report &amp; Accessibility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8412480" cy="12801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218688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ShopCart goes beyond a typical shopping platform. By embedding consumer rights transparency, guided after-sales support, and dedicated accessibility tools directly into the user experience, it empowers all users — from young frequent shoppers to elderly users with visual needs — to shop confidently and claim their rights.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4A8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833"/>
                </a:solidFill>
              </a:rPr>
              <a:t>Team: Kapil  |  Jonas  |  Leo  |  Paxon     |     COMP3511 HCI — UNSW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2096</Words>
  <Application>Microsoft Office PowerPoint</Application>
  <PresentationFormat>On-screen Show (16:9)</PresentationFormat>
  <Paragraphs>373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ShopCart UX Design – Week 8</dc:title>
  <dc:subject>PptxGenJS Presentation</dc:subject>
  <dc:creator>PptxGenJS</dc:creator>
  <cp:lastModifiedBy>KAPIL Vinayak</cp:lastModifiedBy>
  <cp:revision>3</cp:revision>
  <dcterms:created xsi:type="dcterms:W3CDTF">2026-04-20T01:39:50Z</dcterms:created>
  <dcterms:modified xsi:type="dcterms:W3CDTF">2026-04-21T07:42:48Z</dcterms:modified>
</cp:coreProperties>
</file>